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55589"/>
            <a:ext cx="601489" cy="266402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98079"/>
            <a:ext cx="8885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17869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Transformation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342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Python to Intelligent Applications — your journey into Artificial Intelligence and Large Language Models begins here.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41053"/>
            <a:ext cx="1416323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4c1fa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1083543"/>
            <a:ext cx="17034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LEARNING OUTCOMES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641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You'll Master This Week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197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241649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35059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 &amp; Tools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65710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Jupyter, Colab, Streamlit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2842" y="20197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2241649"/>
            <a:ext cx="4005039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4642842" y="235059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657103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 pipeline &amp; Iris 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13193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353842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46278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Transformers &amp; LLMs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769296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Architecture, training, prompting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2842" y="313193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353842"/>
            <a:ext cx="4005039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4642842" y="3462784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Building AI Apps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42842" y="3769296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Hugging Face, RAG,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23218" cy="110430"/>
          </a:xfrm>
          <a:prstGeom prst="roundRect">
            <a:avLst>
              <a:gd name="adj" fmla="val 46216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95437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COURSE ROADMAP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Your AI Journey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81002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step builds on the last — from writing your first Python script to deploying a RAG-powered AI application.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8824"/>
            <a:ext cx="3989412" cy="39894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897859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CEE6F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986412"/>
            <a:ext cx="88553" cy="70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356" y="4950991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 this roadmap to orient students. Point out where we are today (Week 2) and where the course is headed. This is their full-stack AI map.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61033" cy="154409"/>
          </a:xfrm>
          <a:prstGeom prst="roundRect">
            <a:avLst>
              <a:gd name="adj" fmla="val 4338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4c1fa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1929" y="417761"/>
            <a:ext cx="1106612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&amp; TOOLS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8672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Python, Jupyter &amp; Colab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9621"/>
            <a:ext cx="5219179" cy="295751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7023" y="1635323"/>
            <a:ext cx="2705546" cy="534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7666" y="1737866"/>
            <a:ext cx="246236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Python?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87666" y="1944216"/>
            <a:ext cx="246236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syntax, massive AI ecosystem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7023" y="2231008"/>
            <a:ext cx="2705546" cy="5346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87666" y="2333551"/>
            <a:ext cx="246236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Jupyter Notebook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087666" y="2539901"/>
            <a:ext cx="246236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cells, Markdown, inline visuals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7023" y="2826693"/>
            <a:ext cx="2705546" cy="5346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87666" y="2929235"/>
            <a:ext cx="246236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6087666" y="3135585"/>
            <a:ext cx="246236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Cloud-based, free GPU, real-time collaboration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496119" y="4114502"/>
            <a:ext cx="8151763" cy="285601"/>
          </a:xfrm>
          <a:prstGeom prst="roundRect">
            <a:avLst>
              <a:gd name="adj" fmla="val 29318"/>
            </a:avLst>
          </a:prstGeom>
          <a:solidFill>
            <a:srgbClr val="B6D6F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136" y="4235053"/>
            <a:ext cx="116235" cy="930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8388" y="4198739"/>
            <a:ext cx="821367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Did You Know?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Google Colab gives you free GPU access — no installation needed.</a:t>
            </a:r>
            <a:endParaRPr lang="en-US" sz="700" dirty="0"/>
          </a:p>
        </p:txBody>
      </p:sp>
      <p:sp>
        <p:nvSpPr>
          <p:cNvPr id="18" name="Shape 11"/>
          <p:cNvSpPr/>
          <p:nvPr/>
        </p:nvSpPr>
        <p:spPr>
          <a:xfrm>
            <a:off x="496119" y="4468788"/>
            <a:ext cx="8151763" cy="285601"/>
          </a:xfrm>
          <a:prstGeom prst="roundRect">
            <a:avLst>
              <a:gd name="adj" fmla="val 29318"/>
            </a:avLst>
          </a:prstGeom>
          <a:solidFill>
            <a:srgbClr val="CEE6F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136" y="4589338"/>
            <a:ext cx="116235" cy="930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8388" y="4553024"/>
            <a:ext cx="821367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Note: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Ask students: "Where have you seen Python used?" Discuss real-world examples like YouTube, Instagram, NASA. Demo a quick Colab notebook if time allows.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47923" cy="110430"/>
          </a:xfrm>
          <a:prstGeom prst="roundRect">
            <a:avLst>
              <a:gd name="adj" fmla="val 46216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2014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From Data to Prediction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8824"/>
            <a:ext cx="5238080" cy="29682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11900" y="2199084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Iris Dataset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11900" y="2345234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150 flowers · 4 features · 3 species — the "Hello World" of ML classification.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41" y="3876675"/>
            <a:ext cx="7890644" cy="29609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02209" y="6118816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02299" y="611881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10540" y="611881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518781" y="611881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94415" y="611881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6119" y="687742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ML project follows this core loop — clean your data, train your model, evaluate, then predict.</a:t>
            </a:r>
            <a:endParaRPr lang="en-US" sz="550" dirty="0"/>
          </a:p>
        </p:txBody>
      </p:sp>
      <p:sp>
        <p:nvSpPr>
          <p:cNvPr id="15" name="Shape 11"/>
          <p:cNvSpPr/>
          <p:nvPr/>
        </p:nvSpPr>
        <p:spPr>
          <a:xfrm>
            <a:off x="496119" y="7002289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CEE6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1" y="7090842"/>
            <a:ext cx="88553" cy="70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356" y="7055421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Walk through the Iris dataset as a concrete example. Explain features (sepal length, petal width) and labels (species). Emphasize that this pipeline applies to every ML problem they'll encounter.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34516" cy="110430"/>
          </a:xfrm>
          <a:prstGeom prst="roundRect">
            <a:avLst>
              <a:gd name="adj" fmla="val 4621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4c1fa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906735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 LEARNING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Transformers &amp; Large Language Models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8824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7895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Makes Transformers Special?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25105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Self-Attention: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understands word relationships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Parallel processing: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faster than older architectures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Scale: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billions of parameters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94039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LLM Examples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3086546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ChatGPT, Claude, Gemini, LLaMA — all built on transformer architecture.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96119" y="4897859"/>
            <a:ext cx="8151763" cy="272802"/>
          </a:xfrm>
          <a:prstGeom prst="roundRect">
            <a:avLst>
              <a:gd name="adj" fmla="val 23385"/>
            </a:avLst>
          </a:prstGeom>
          <a:solidFill>
            <a:srgbClr val="CEE6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986412"/>
            <a:ext cx="88553" cy="70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356" y="4950991"/>
            <a:ext cx="785068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Keep transformer explanation high-level. Use the analogy: "Self-attention is like reading a sentence and instantly knowing which words matter most to each other." Mention that GPT stands for Generative Pre-trained Transformer.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785"/>
            <a:ext cx="1399952" cy="255240"/>
          </a:xfrm>
          <a:prstGeom prst="roundRect">
            <a:avLst>
              <a:gd name="adj" fmla="val 38741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39936"/>
            <a:ext cx="1692399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PROMPT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07231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Talk to AI Like a Pro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68859"/>
            <a:ext cx="3908375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Weak Prompt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1837804"/>
            <a:ext cx="19050" cy="455712"/>
          </a:xfrm>
          <a:prstGeom prst="roundRect">
            <a:avLst>
              <a:gd name="adj" fmla="val 60000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702097" y="1957536"/>
            <a:ext cx="415959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Summarize this.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2443237"/>
            <a:ext cx="3908375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Strong Prompt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6119" y="2812182"/>
            <a:ext cx="19050" cy="672108"/>
          </a:xfrm>
          <a:prstGeom prst="roundRect">
            <a:avLst>
              <a:gd name="adj" fmla="val 60000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702097" y="2931914"/>
            <a:ext cx="370239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 as a teacher. Summarize in 3 bullet points for a 10-year-old.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4269" y="1485528"/>
            <a:ext cx="1887662" cy="1034058"/>
          </a:xfrm>
          <a:prstGeom prst="roundRect">
            <a:avLst>
              <a:gd name="adj" fmla="val 11953"/>
            </a:avLst>
          </a:prstGeom>
          <a:solidFill>
            <a:srgbClr val="CEE6FD"/>
          </a:solidFill>
          <a:ln/>
        </p:spPr>
      </p:sp>
      <p:sp>
        <p:nvSpPr>
          <p:cNvPr id="12" name="Shape 10"/>
          <p:cNvSpPr/>
          <p:nvPr/>
        </p:nvSpPr>
        <p:spPr>
          <a:xfrm>
            <a:off x="4881563" y="1622822"/>
            <a:ext cx="411956" cy="411956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4821" y="1736080"/>
            <a:ext cx="185365" cy="1853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81563" y="2167756"/>
            <a:ext cx="16130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764908" y="1485528"/>
            <a:ext cx="1887736" cy="1034058"/>
          </a:xfrm>
          <a:prstGeom prst="roundRect">
            <a:avLst>
              <a:gd name="adj" fmla="val 11953"/>
            </a:avLst>
          </a:prstGeom>
          <a:solidFill>
            <a:srgbClr val="CEE6FD"/>
          </a:solidFill>
          <a:ln/>
        </p:spPr>
      </p:sp>
      <p:sp>
        <p:nvSpPr>
          <p:cNvPr id="16" name="Shape 13"/>
          <p:cNvSpPr/>
          <p:nvPr/>
        </p:nvSpPr>
        <p:spPr>
          <a:xfrm>
            <a:off x="6902202" y="1622822"/>
            <a:ext cx="411956" cy="411956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5460" y="1736080"/>
            <a:ext cx="185365" cy="1853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2202" y="2167756"/>
            <a:ext cx="1613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Context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744269" y="2652564"/>
            <a:ext cx="1887662" cy="1034058"/>
          </a:xfrm>
          <a:prstGeom prst="roundRect">
            <a:avLst>
              <a:gd name="adj" fmla="val 11953"/>
            </a:avLst>
          </a:prstGeom>
          <a:solidFill>
            <a:srgbClr val="CEE6FD"/>
          </a:solidFill>
          <a:ln/>
        </p:spPr>
      </p:sp>
      <p:sp>
        <p:nvSpPr>
          <p:cNvPr id="20" name="Shape 16"/>
          <p:cNvSpPr/>
          <p:nvPr/>
        </p:nvSpPr>
        <p:spPr>
          <a:xfrm>
            <a:off x="4881563" y="2789858"/>
            <a:ext cx="411956" cy="411956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4821" y="2903116"/>
            <a:ext cx="185365" cy="1853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81563" y="3334792"/>
            <a:ext cx="16130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764908" y="2652564"/>
            <a:ext cx="1887736" cy="1034058"/>
          </a:xfrm>
          <a:prstGeom prst="roundRect">
            <a:avLst>
              <a:gd name="adj" fmla="val 11953"/>
            </a:avLst>
          </a:prstGeom>
          <a:solidFill>
            <a:srgbClr val="CEE6FD"/>
          </a:solidFill>
          <a:ln/>
        </p:spPr>
      </p:sp>
      <p:sp>
        <p:nvSpPr>
          <p:cNvPr id="24" name="Shape 19"/>
          <p:cNvSpPr/>
          <p:nvPr/>
        </p:nvSpPr>
        <p:spPr>
          <a:xfrm>
            <a:off x="6902202" y="2789858"/>
            <a:ext cx="411956" cy="411956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15460" y="2903116"/>
            <a:ext cx="185365" cy="1853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2202" y="3334792"/>
            <a:ext cx="1613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Chain of Thought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496119" y="3985915"/>
            <a:ext cx="8151763" cy="758726"/>
          </a:xfrm>
          <a:prstGeom prst="roundRect">
            <a:avLst>
              <a:gd name="adj" fmla="val 16291"/>
            </a:avLst>
          </a:prstGeom>
          <a:solidFill>
            <a:srgbClr val="CEE6F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3" y="4180210"/>
            <a:ext cx="171599" cy="13729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2305" y="4153198"/>
            <a:ext cx="7568282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Live demo: show the same weak vs strong prompt in ChatGPT. Let students see the dramatic difference in output quality. Encourage them to experiment with role prompting.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148"/>
            <a:ext cx="734318" cy="177850"/>
          </a:xfrm>
          <a:prstGeom prst="roundRect">
            <a:avLst>
              <a:gd name="adj" fmla="val 4214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4c1fa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8552" y="428327"/>
            <a:ext cx="106665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ECOSYSTEM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05507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Hugging Face &amp; Open-Source AI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1466"/>
            <a:ext cx="5209729" cy="295215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4510" y="1825823"/>
            <a:ext cx="208211" cy="2082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8269" y="1861542"/>
            <a:ext cx="238430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Model Hub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268269" y="2100635"/>
            <a:ext cx="238430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500K+ pre-trained models — free to use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4510" y="2397919"/>
            <a:ext cx="208211" cy="2082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8269" y="2433638"/>
            <a:ext cx="238430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Pipeline API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268269" y="2672730"/>
            <a:ext cx="238430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line of code to run any model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4510" y="2970014"/>
            <a:ext cx="208211" cy="2082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8269" y="3005733"/>
            <a:ext cx="238430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268269" y="3244825"/>
            <a:ext cx="238430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 base models to your data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96119" y="4255517"/>
            <a:ext cx="8151763" cy="490761"/>
          </a:xfrm>
          <a:prstGeom prst="roundRect">
            <a:avLst>
              <a:gd name="adj" fmla="val 19093"/>
            </a:avLst>
          </a:prstGeom>
          <a:solidFill>
            <a:srgbClr val="CEE6F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24" y="4394448"/>
            <a:ext cx="130076" cy="1041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4405" y="4357911"/>
            <a:ext cx="7709371" cy="293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Navigate to huggingface.co live if possible. Show the Model Hub, search for a sentiment analysis model, and run a quick pipeline example. Emphasize that students don't need to train from scratch.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72157" cy="110430"/>
          </a:xfrm>
          <a:prstGeom prst="roundRect">
            <a:avLst>
              <a:gd name="adj" fmla="val 46216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4437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AI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Tokens, Embeddings &amp; RAG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789012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61411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Retrieved Docs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80711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Vector DB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00826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20125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1504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RAG combines the power of LLMs with your own data — no retraining needed.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96119" y="4439915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566961" y="451075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Tokens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66961" y="464269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 split into chunks (~4 chars each)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225180" y="4439915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CEE6FD"/>
          </a:solidFill>
          <a:ln/>
        </p:spPr>
      </p:sp>
      <p:sp>
        <p:nvSpPr>
          <p:cNvPr id="15" name="Text 12"/>
          <p:cNvSpPr/>
          <p:nvPr/>
        </p:nvSpPr>
        <p:spPr>
          <a:xfrm>
            <a:off x="3296022" y="451075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Embeddings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296022" y="464269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Words → numerical vectors capturing meaning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5954241" y="4439915"/>
            <a:ext cx="2693640" cy="358676"/>
          </a:xfrm>
          <a:prstGeom prst="roundRect">
            <a:avLst>
              <a:gd name="adj" fmla="val 17786"/>
            </a:avLst>
          </a:prstGeom>
          <a:solidFill>
            <a:srgbClr val="CEE6FD"/>
          </a:solidFill>
          <a:ln/>
        </p:spPr>
      </p:sp>
      <p:sp>
        <p:nvSpPr>
          <p:cNvPr id="18" name="Text 15"/>
          <p:cNvSpPr/>
          <p:nvPr/>
        </p:nvSpPr>
        <p:spPr>
          <a:xfrm>
            <a:off x="6025083" y="451075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Vector DB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025083" y="464269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embeddings for semantic search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496119" y="4838402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CEE6F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926955"/>
            <a:ext cx="88553" cy="7084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6356" y="4891534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Presenter Note: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 the library analogy: embeddings are like a card catalog — instead of keyword matching, the AI finds documents by meaning. RAG is how ChatGPT plugins and AI search engines work.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8711"/>
            <a:ext cx="1029519" cy="223317"/>
          </a:xfrm>
          <a:prstGeom prst="roundRect">
            <a:avLst>
              <a:gd name="adj" fmla="val 39994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435918"/>
            <a:ext cx="1337890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2 WRAP-UP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66541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 Something Real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215703"/>
            <a:ext cx="620167" cy="744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3781" y="1339676"/>
            <a:ext cx="3994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Form Teams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53781" y="1598637"/>
            <a:ext cx="3994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Hackathon groups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59918"/>
            <a:ext cx="620167" cy="7442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3781" y="2083891"/>
            <a:ext cx="3994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Pick a Project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653781" y="2342852"/>
            <a:ext cx="3994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Choose your AI problem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704133"/>
            <a:ext cx="620167" cy="7442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3781" y="2828106"/>
            <a:ext cx="3994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 a POC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53781" y="3087067"/>
            <a:ext cx="3994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Proof of concept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448348"/>
            <a:ext cx="620167" cy="7442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3781" y="3572321"/>
            <a:ext cx="39941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Final Demo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653781" y="3831282"/>
            <a:ext cx="39941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 to the class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3925119" y="4314602"/>
            <a:ext cx="14288" cy="430113"/>
          </a:xfrm>
          <a:prstGeom prst="roundRect">
            <a:avLst>
              <a:gd name="adj" fmla="val 59998"/>
            </a:avLst>
          </a:prstGeom>
          <a:solidFill>
            <a:srgbClr val="84C1FA"/>
          </a:solidFill>
          <a:ln/>
        </p:spPr>
      </p:sp>
      <p:sp>
        <p:nvSpPr>
          <p:cNvPr id="19" name="Text 12"/>
          <p:cNvSpPr/>
          <p:nvPr/>
        </p:nvSpPr>
        <p:spPr>
          <a:xfrm>
            <a:off x="4111154" y="4436641"/>
            <a:ext cx="49939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Questions? Let's discuss your project ideas!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2026-07-08T17:48:16Z</dcterms:created>
  <dcterms:modified xsi:type="dcterms:W3CDTF">2026-07-08T17:48:16Z</dcterms:modified>
</cp:coreProperties>
</file>